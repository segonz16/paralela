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77" r:id="rId4"/>
    <p:sldId id="278" r:id="rId5"/>
    <p:sldId id="279" r:id="rId6"/>
    <p:sldId id="280" r:id="rId7"/>
    <p:sldId id="281" r:id="rId8"/>
    <p:sldId id="260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EBC2F-337F-B03D-F5BC-A81B0A499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EF2403-E033-B928-0A67-30DA8ABB2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68E3C5-DF11-31F4-5D9D-15063D75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855E0F-89D9-A6B0-E6A7-7E03061C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93E1D-6C9D-C91D-8ABD-92905660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935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965B7-CF93-6476-B547-7886FF05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3237D5-ADB0-3942-20B5-E71B71810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7CB6CE-B0B2-3D85-CCD3-D2EEF14C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B2F713-7937-4FCB-35D5-808CED18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43B17-FCFD-E9E9-BF54-2CA8CC03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991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4A58F-A865-5ABE-E9D1-B363BC57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DE9FE0-E599-5B65-C6A8-7F47E0D2B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4E3A7-056D-E5C6-A518-5BFE4ABA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BC49B-A223-A177-56F8-03070FC2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4ACE77-2E97-E7D1-89FB-463C0D21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6966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AE83C-9A00-1E8C-BF2F-ED0B710F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05F2D5-D3ED-5C41-28D9-594FD6BEB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AE33F5-EEE9-AA98-FAFE-F07E06F71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B75550-88EE-CE06-6DC0-2EC988B3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3B1971-573A-44F0-5CD4-DE4B6F2C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9C9FEB-1016-703F-3357-812522FC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248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25A61-4AFC-5FD5-D700-55AF8BCF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E58E92-5D58-4FEF-685A-B3033968C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E7AF99-9E2C-5C56-5CB5-F83044E3E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865100-09D8-A876-60DE-BABA8D846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C7C552-87CB-AA6C-FF9F-993FD369A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AAB8E7-C47B-A135-76F3-729A80A6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A4D3878-6ABF-BAF3-B897-0F39BB3F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693E2DB-3CF1-CEF8-A014-184A3186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013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15DC0-02B8-DC4E-B161-215FA812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94982D1-74DA-628B-CA2B-5471C2AC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058AAA-42A8-3DAA-96FB-AFAF8713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6625DA-4794-EF4F-009A-4E9B8861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961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C5B2CA9-EDF4-C310-00C6-ECCDFEBC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B2BBBC-7853-9833-C613-2C36FB19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F1CBA-87F0-FB38-154F-F4829C62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9365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4CD63-D91B-A270-3B6D-BB5AA1C3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2E436B-E21B-E86D-A79A-8267A5C3B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016440-625D-306E-73BA-0F88B9EE2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7CAD46-A5AC-4F13-13FE-41E8A56C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D7F9ED-3892-8F65-EED3-6F10E384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64D838-F216-8A40-B29B-CFBEE3E6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9216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4881F-B829-07FC-A2B0-812A1643A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C2D9ED-D2BF-3BBD-65D1-AF84F95C6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2B4C76-7D65-6F32-7988-D77563EFE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02E6A1-AF8E-43E4-8ED5-FF65BF0A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88A773-472C-16E1-2D3F-4279A11A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D134F4-96EF-9E84-4B26-E8E2DEDC0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09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48F96-0CFF-86A5-1745-F5E46F9A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783D9F-DFB3-ABCE-DA5C-399A48FCB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DB656D-36CA-F693-0488-0D330B60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C3B47-E3C4-149B-85E9-201DEBA4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7F9A95-E09F-F5B8-4A7F-FC770122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934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CA62C4-1639-8F0A-E5F1-F5773F6AE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6C5756-4363-CC82-3002-634C63A77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16403A-B9DF-CB6D-5AB7-1609701C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8D95B6-0F7A-5EFF-F2F3-0DEF8F8A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16EA10-527E-D813-F388-0F229323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89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23B236-661D-E87D-CDD7-3FFF8BD1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D5D753-6C70-56DA-F249-BBF77A26F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3B1D44-72C2-F19A-9AF8-5284C9BEE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26F6A-8B8D-478A-8C6F-B5DFE7E3CD1E}" type="datetimeFigureOut">
              <a:rPr lang="es-CO" smtClean="0"/>
              <a:t>3/03/2025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2A063A-405B-EDFA-27BA-2B2399872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9159E7-755B-5749-114B-03F8F4D3C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AC20E-D506-4561-A4C3-03262ABC76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723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act.com.pe/assets/uploads/noticias/que-es-la-gestion-de-procesos-de-negocios-bpm.jp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pertsoft.es/wp-content/uploads/2020/07/xbpm.png.pagespeed.ic_.sJr_stXuYY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act.com.pe/assets/uploads/noticias/que-es-la-gestion-de-procesos-de-negocios-bpm.jpg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views.123rf.com/images/tang90246/tang902461508/tang90246150800028/43232028-bpm-business-process-management-rompecabezas-en-una-imagen-de-l%C3%ADnea-con-alta-resoluci%C3%B3n-de-obras.jpg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dn-icons-png.freepik.com/512/8567/8567110.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CDC23C3-7865-BE6E-86CB-61A31B451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784" y="1546412"/>
            <a:ext cx="9089572" cy="30604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6000" b="1" dirty="0">
                <a:latin typeface=" Arial"/>
                <a:ea typeface=" Arial"/>
                <a:cs typeface=" Arial"/>
                <a:sym typeface=" Arial"/>
              </a:rPr>
              <a:t>Gestión de Procesos de Negocio (BPM)</a:t>
            </a:r>
            <a:endParaRPr lang="es-CO" sz="6000"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FDA7A2D-7080-D91E-CF0F-B2AB0A4EA4D1}"/>
              </a:ext>
            </a:extLst>
          </p:cNvPr>
          <p:cNvSpPr txBox="1">
            <a:spLocks/>
          </p:cNvSpPr>
          <p:nvPr/>
        </p:nvSpPr>
        <p:spPr>
          <a:xfrm>
            <a:off x="6736976" y="4182035"/>
            <a:ext cx="4858871" cy="1282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/>
              <a:t>Bibiana </a:t>
            </a:r>
            <a:r>
              <a:rPr lang="es-ES" sz="1800" dirty="0" err="1"/>
              <a:t>Roman</a:t>
            </a:r>
            <a:endParaRPr lang="es-ES" sz="1800" dirty="0"/>
          </a:p>
          <a:p>
            <a:r>
              <a:rPr lang="es-ES" sz="1800" dirty="0"/>
              <a:t>Sebastian Gonzalez</a:t>
            </a:r>
          </a:p>
        </p:txBody>
      </p:sp>
      <p:pic>
        <p:nvPicPr>
          <p:cNvPr id="1026" name="Picture 2" descr="Qué es la gestión de procesos de negocios (BPM)? - Exact">
            <a:extLst>
              <a:ext uri="{FF2B5EF4-FFF2-40B4-BE49-F238E27FC236}">
                <a16:creationId xmlns:a16="http://schemas.microsoft.com/office/drawing/2014/main" id="{887D56F5-BACB-3685-C840-5DA922EF8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695" y="3519084"/>
            <a:ext cx="3039464" cy="202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5B552D1-7117-0300-F9CC-CA7A0CCFCE7A}"/>
              </a:ext>
            </a:extLst>
          </p:cNvPr>
          <p:cNvSpPr txBox="1"/>
          <p:nvPr/>
        </p:nvSpPr>
        <p:spPr>
          <a:xfrm>
            <a:off x="1659333" y="5545393"/>
            <a:ext cx="6096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700" b="1" dirty="0" err="1"/>
              <a:t>Exact</a:t>
            </a:r>
            <a:r>
              <a:rPr lang="es-ES" sz="700" b="1" dirty="0"/>
              <a:t>.</a:t>
            </a:r>
            <a:r>
              <a:rPr lang="es-ES" sz="700" dirty="0"/>
              <a:t> (s.f.). </a:t>
            </a:r>
            <a:r>
              <a:rPr lang="es-ES" sz="700" i="1" dirty="0"/>
              <a:t>¿Qué es la gestión de procesos de negocios (BPM)?</a:t>
            </a:r>
            <a:r>
              <a:rPr lang="es-ES" sz="700" dirty="0"/>
              <a:t> Recuperado de </a:t>
            </a:r>
            <a:r>
              <a:rPr lang="es-ES" sz="700" dirty="0" err="1">
                <a:hlinkClick r:id="rId3"/>
              </a:rPr>
              <a:t>Exact</a:t>
            </a:r>
            <a:endParaRPr lang="es-CO" sz="700" dirty="0"/>
          </a:p>
        </p:txBody>
      </p:sp>
    </p:spTree>
    <p:extLst>
      <p:ext uri="{BB962C8B-B14F-4D97-AF65-F5344CB8AC3E}">
        <p14:creationId xmlns:p14="http://schemas.microsoft.com/office/powerpoint/2010/main" val="3625296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DF69F-B6DC-D3D7-58F9-5F01B011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sz="4400" b="1" dirty="0">
                <a:latin typeface="Arial"/>
                <a:ea typeface="Arial"/>
                <a:cs typeface="Arial"/>
                <a:sym typeface="Arial"/>
              </a:rPr>
              <a:t>¿Qué es BPM?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EEF37D-AE81-8AD1-943B-318148E6A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BPM (Business </a:t>
            </a:r>
            <a:r>
              <a:rPr lang="es-ES" sz="2400" dirty="0" err="1"/>
              <a:t>Process</a:t>
            </a:r>
            <a:r>
              <a:rPr lang="es-ES" sz="2400" dirty="0"/>
              <a:t> Management) es un enfoque estratégico para gestionar y mejorar los procesos empresariales de manera continua. Consiste en modelar, analizar, ejecutar, monitorear y optimizar los procesos para mejorar la eficiencia y lograr los objetivos organizacionales.</a:t>
            </a: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CO" sz="2400" dirty="0"/>
          </a:p>
        </p:txBody>
      </p:sp>
      <p:pic>
        <p:nvPicPr>
          <p:cNvPr id="2050" name="Picture 2" descr="Software Gestión de Procesos de Negocio | BPM">
            <a:extLst>
              <a:ext uri="{FF2B5EF4-FFF2-40B4-BE49-F238E27FC236}">
                <a16:creationId xmlns:a16="http://schemas.microsoft.com/office/drawing/2014/main" id="{CC86BEBE-2102-163E-2F04-AF829B520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699" y="2746989"/>
            <a:ext cx="2971185" cy="298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CC053D3-883B-9992-2098-553E1F1D809F}"/>
              </a:ext>
            </a:extLst>
          </p:cNvPr>
          <p:cNvSpPr txBox="1"/>
          <p:nvPr/>
        </p:nvSpPr>
        <p:spPr>
          <a:xfrm>
            <a:off x="7452852" y="5736844"/>
            <a:ext cx="59855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b="1" dirty="0" err="1"/>
              <a:t>Expertsoft</a:t>
            </a:r>
            <a:r>
              <a:rPr lang="es-CO" sz="800" b="1" dirty="0"/>
              <a:t>.</a:t>
            </a:r>
            <a:r>
              <a:rPr lang="es-CO" sz="800" dirty="0"/>
              <a:t> (2020). </a:t>
            </a:r>
            <a:r>
              <a:rPr lang="es-CO" sz="800" i="1" dirty="0"/>
              <a:t>BPM (Business </a:t>
            </a:r>
            <a:r>
              <a:rPr lang="es-CO" sz="800" i="1" dirty="0" err="1"/>
              <a:t>Process</a:t>
            </a:r>
            <a:r>
              <a:rPr lang="es-CO" sz="800" i="1" dirty="0"/>
              <a:t> Management)</a:t>
            </a:r>
            <a:r>
              <a:rPr lang="es-CO" sz="800" dirty="0"/>
              <a:t>. Recuperado de </a:t>
            </a:r>
            <a:r>
              <a:rPr lang="es-CO" sz="800" dirty="0" err="1">
                <a:hlinkClick r:id="rId3"/>
              </a:rPr>
              <a:t>Expertsoft</a:t>
            </a:r>
            <a:endParaRPr lang="es-CO" sz="600" dirty="0"/>
          </a:p>
        </p:txBody>
      </p:sp>
    </p:spTree>
    <p:extLst>
      <p:ext uri="{BB962C8B-B14F-4D97-AF65-F5344CB8AC3E}">
        <p14:creationId xmlns:p14="http://schemas.microsoft.com/office/powerpoint/2010/main" val="288669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2333E-85DF-0902-08DD-012686CE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latin typeface="Arial"/>
                <a:cs typeface="Arial"/>
              </a:rPr>
              <a:t>Ventajas</a:t>
            </a:r>
            <a:endParaRPr lang="es-CO" b="1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C5A5E6-6539-179B-F4AF-D57B34E4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b="1" dirty="0">
                <a:effectLst/>
                <a:ea typeface="Calibri" panose="020F0502020204030204" pitchFamily="34" charset="0"/>
                <a:cs typeface="Segoe UI Emoji" panose="020B0502040204020203" pitchFamily="34" charset="0"/>
              </a:rPr>
              <a:t>-  </a:t>
            </a:r>
            <a: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Eficiencia operativa: Reducción de costos y tiempos.</a:t>
            </a:r>
            <a:b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 Mayor control y visibilidad: Facilita el monitoreo en tiempo real.</a:t>
            </a:r>
            <a:b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 Automatización de procesos: Minimiza tareas repetitivas y errores.</a:t>
            </a:r>
            <a:b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 Flexibilidad y adaptación: Permite cambios rápidos ante nuevas necesidades.</a:t>
            </a:r>
            <a:b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 Mejora de la experiencia del cliente: Respuestas más ágiles y mejor calidad del servicio.</a:t>
            </a:r>
            <a:b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O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s-CO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Cumplimiento normativo: Facilita la conformidad con regulaciones</a:t>
            </a:r>
            <a:endParaRPr lang="es-CO" sz="3200" dirty="0"/>
          </a:p>
        </p:txBody>
      </p:sp>
      <p:pic>
        <p:nvPicPr>
          <p:cNvPr id="3074" name="Picture 2" descr="La guía para principiantes sobre la gestión de procesos de negocios (BPM)  [2025] • Asana">
            <a:extLst>
              <a:ext uri="{FF2B5EF4-FFF2-40B4-BE49-F238E27FC236}">
                <a16:creationId xmlns:a16="http://schemas.microsoft.com/office/drawing/2014/main" id="{6237E27E-1A10-422D-F7A9-68192B394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912" y="3717003"/>
            <a:ext cx="3127888" cy="208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C5F4521-993E-DDA8-EE44-A22062BC2105}"/>
              </a:ext>
            </a:extLst>
          </p:cNvPr>
          <p:cNvSpPr txBox="1"/>
          <p:nvPr/>
        </p:nvSpPr>
        <p:spPr>
          <a:xfrm>
            <a:off x="8101781" y="582947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b="1" dirty="0" err="1"/>
              <a:t>Exact</a:t>
            </a:r>
            <a:r>
              <a:rPr lang="es-ES" sz="800" b="1" dirty="0"/>
              <a:t>.</a:t>
            </a:r>
            <a:r>
              <a:rPr lang="es-ES" sz="800" dirty="0"/>
              <a:t> (s.f.). </a:t>
            </a:r>
            <a:r>
              <a:rPr lang="es-ES" sz="800" i="1" dirty="0"/>
              <a:t>¿Qué es la gestión de procesos de negocios (BPM)?</a:t>
            </a:r>
            <a:r>
              <a:rPr lang="es-ES" sz="800" dirty="0"/>
              <a:t> Recuperado de </a:t>
            </a:r>
            <a:r>
              <a:rPr lang="es-ES" sz="800" dirty="0" err="1">
                <a:hlinkClick r:id="rId3"/>
              </a:rPr>
              <a:t>Exact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43029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69D6D-5750-AA7F-0907-48742505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latin typeface="Arial"/>
                <a:cs typeface="Arial"/>
              </a:rPr>
              <a:t>DHL</a:t>
            </a:r>
            <a:endParaRPr lang="es-CO" b="1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DB649-4D11-775A-DB2E-639F65D47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s-C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DHL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gestionaba un alto volumen de envíos internacionales, pero enfrentaba desafíos como: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Procesos manuales en la asignación de rutas y carga de paquetes.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Falta de visibilidad en tiempo real sobre el estado de los envíos.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Retrasos en la entrega debido a la falta de optimización de rutas.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Elevados costos operativos debido a ineficiencias.</a:t>
            </a:r>
          </a:p>
          <a:p>
            <a:endParaRPr lang="es-CO" dirty="0"/>
          </a:p>
        </p:txBody>
      </p:sp>
      <p:pic>
        <p:nvPicPr>
          <p:cNvPr id="4098" name="Picture 2" descr="5,261,963 imágenes, fotos de stock, objetos en 3D y vectores ...">
            <a:extLst>
              <a:ext uri="{FF2B5EF4-FFF2-40B4-BE49-F238E27FC236}">
                <a16:creationId xmlns:a16="http://schemas.microsoft.com/office/drawing/2014/main" id="{489902F9-5287-1082-6B56-276C62A5F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544" y="3029565"/>
            <a:ext cx="35909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21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CFE68-B23A-3427-78BF-830C30DD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latin typeface="Arial"/>
                <a:cs typeface="Arial"/>
              </a:rPr>
              <a:t>BPM</a:t>
            </a:r>
            <a:endParaRPr lang="es-CO" b="1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04AA08-33CC-C567-EE95-66119D99B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s-CO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DHL</a:t>
            </a: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 implementó una estrategia BPM para mejorar la gestión de sus procesos logísticos. Esto incluyó:</a:t>
            </a:r>
          </a:p>
          <a:p>
            <a:pPr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Automatización del seguimiento de paquetes en tiempo real mediante sistemas BPM conectados con </a:t>
            </a:r>
            <a:r>
              <a:rPr lang="es-CO" sz="18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IoT</a:t>
            </a: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 y GPS.</a:t>
            </a:r>
          </a:p>
          <a:p>
            <a:pPr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Optimización de rutas utilizando algoritmos de inteligencia artificial, reduciendo tiempos de entrega.</a:t>
            </a:r>
          </a:p>
          <a:p>
            <a:pPr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Digitalización de documentos y eliminación de procesos manuales en la gestión de pedidos.</a:t>
            </a:r>
          </a:p>
          <a:p>
            <a:pPr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Monitoreo en tiempo real de la eficiencia operativa mediante </a:t>
            </a:r>
            <a:r>
              <a:rPr lang="es-CO" sz="18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dashboards</a:t>
            </a: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CO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Mejora en la atención al cliente con notificaciones automáticas sobre el estado de sus envíos.</a:t>
            </a:r>
          </a:p>
        </p:txBody>
      </p:sp>
      <p:pic>
        <p:nvPicPr>
          <p:cNvPr id="5122" name="Picture 2" descr="BPM - Business Process Management Rompecabezas En Una Imagen ...">
            <a:extLst>
              <a:ext uri="{FF2B5EF4-FFF2-40B4-BE49-F238E27FC236}">
                <a16:creationId xmlns:a16="http://schemas.microsoft.com/office/drawing/2014/main" id="{8FA82BDC-F1EB-26FC-D0DB-ECABE26AC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311" y="4149833"/>
            <a:ext cx="2448232" cy="163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B5D81AC-5578-2977-4856-F4F91FF63DDA}"/>
              </a:ext>
            </a:extLst>
          </p:cNvPr>
          <p:cNvSpPr txBox="1"/>
          <p:nvPr/>
        </p:nvSpPr>
        <p:spPr>
          <a:xfrm>
            <a:off x="4286864" y="5655680"/>
            <a:ext cx="37559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b="1" dirty="0"/>
              <a:t>123RF.</a:t>
            </a:r>
            <a:r>
              <a:rPr lang="es-CO" sz="800" dirty="0"/>
              <a:t> (2015). </a:t>
            </a:r>
            <a:r>
              <a:rPr lang="es-CO" sz="800" i="1" dirty="0"/>
              <a:t>BPM Business </a:t>
            </a:r>
            <a:r>
              <a:rPr lang="es-CO" sz="800" i="1" dirty="0" err="1"/>
              <a:t>Process</a:t>
            </a:r>
            <a:r>
              <a:rPr lang="es-CO" sz="800" i="1" dirty="0"/>
              <a:t> Management - </a:t>
            </a:r>
            <a:r>
              <a:rPr lang="es-CO" sz="800" i="1" dirty="0" err="1"/>
              <a:t>Puzzle</a:t>
            </a:r>
            <a:r>
              <a:rPr lang="es-CO" sz="800" i="1" dirty="0"/>
              <a:t> </a:t>
            </a:r>
            <a:r>
              <a:rPr lang="es-CO" sz="800" i="1" dirty="0" err="1"/>
              <a:t>Image</a:t>
            </a:r>
            <a:r>
              <a:rPr lang="es-CO" sz="800" dirty="0"/>
              <a:t>. Recuperado de </a:t>
            </a:r>
            <a:r>
              <a:rPr lang="es-CO" sz="800" dirty="0">
                <a:hlinkClick r:id="rId3"/>
              </a:rPr>
              <a:t>123RF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395358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1D17B-0DC5-9ABD-736F-BB35E94D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BPM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5AFA14-A587-9260-7693-2ED8E216D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 de implementar BPM: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Reducción del tiempo de entrega en un 15%.</a:t>
            </a:r>
            <a:endParaRPr lang="es-CO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Disminuci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de costos operativos en un 20% gracias a la optimización de rutas.</a:t>
            </a:r>
            <a:endParaRPr lang="es-CO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Aumento del 95% en precisión de seguimiento de paquetes en tiempo real.</a:t>
            </a:r>
            <a:endParaRPr lang="es-CO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Mayor satisfacci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del cliente al recibir informaci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en cada etapa del proceso.</a:t>
            </a:r>
          </a:p>
          <a:p>
            <a:endParaRPr lang="es-CO" dirty="0"/>
          </a:p>
        </p:txBody>
      </p:sp>
      <p:pic>
        <p:nvPicPr>
          <p:cNvPr id="6146" name="Picture 2" descr="Icono de Resultado Generic Outline Color | Freepik">
            <a:extLst>
              <a:ext uri="{FF2B5EF4-FFF2-40B4-BE49-F238E27FC236}">
                <a16:creationId xmlns:a16="http://schemas.microsoft.com/office/drawing/2014/main" id="{83CCCE6D-3EB4-FEC4-3EC4-481EF614F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942" y="3084871"/>
            <a:ext cx="2821858" cy="282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8AA3AE7-C3F3-09D3-C1E2-7D0146CA76D0}"/>
              </a:ext>
            </a:extLst>
          </p:cNvPr>
          <p:cNvSpPr txBox="1"/>
          <p:nvPr/>
        </p:nvSpPr>
        <p:spPr>
          <a:xfrm>
            <a:off x="8689258" y="5799007"/>
            <a:ext cx="23523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b="1" dirty="0" err="1"/>
              <a:t>Freepik</a:t>
            </a:r>
            <a:r>
              <a:rPr lang="es-CO" sz="800" b="1" dirty="0"/>
              <a:t>.</a:t>
            </a:r>
            <a:r>
              <a:rPr lang="es-CO" sz="800" dirty="0"/>
              <a:t> (s.f.). </a:t>
            </a:r>
            <a:r>
              <a:rPr lang="es-CO" sz="800" i="1" dirty="0"/>
              <a:t>BPM </a:t>
            </a:r>
            <a:r>
              <a:rPr lang="es-CO" sz="800" i="1" dirty="0" err="1"/>
              <a:t>Icon</a:t>
            </a:r>
            <a:r>
              <a:rPr lang="es-CO" sz="800" dirty="0"/>
              <a:t>. Recuperado de </a:t>
            </a:r>
            <a:r>
              <a:rPr lang="es-CO" sz="800" dirty="0" err="1">
                <a:hlinkClick r:id="rId3"/>
              </a:rPr>
              <a:t>Freepik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232919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FDD4A-D5F9-CEB9-C1FE-C92AD572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err="1"/>
              <a:t>Bibliografia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E431C1-F010-7227-FB61-869AF9301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100" b="1" dirty="0"/>
              <a:t>Fundamentos de gestión de procesos de negocio (2ª edición)</a:t>
            </a:r>
            <a:br>
              <a:rPr lang="es-ES" sz="1100" dirty="0"/>
            </a:br>
            <a:r>
              <a:rPr lang="es-ES" sz="1100" dirty="0"/>
              <a:t>Autores: Marlon Dumas, </a:t>
            </a:r>
            <a:r>
              <a:rPr lang="es-ES" sz="1100" dirty="0" err="1"/>
              <a:t>Marcello</a:t>
            </a:r>
            <a:r>
              <a:rPr lang="es-ES" sz="1100" dirty="0"/>
              <a:t> La Rosa, Jan </a:t>
            </a:r>
            <a:r>
              <a:rPr lang="es-ES" sz="1100" dirty="0" err="1"/>
              <a:t>Mendling</a:t>
            </a:r>
            <a:r>
              <a:rPr lang="es-ES" sz="1100" dirty="0"/>
              <a:t> y </a:t>
            </a:r>
            <a:r>
              <a:rPr lang="es-ES" sz="1100" dirty="0" err="1"/>
              <a:t>Hajo</a:t>
            </a:r>
            <a:r>
              <a:rPr lang="es-ES" sz="1100" dirty="0"/>
              <a:t> A. </a:t>
            </a:r>
            <a:r>
              <a:rPr lang="es-ES" sz="1100" dirty="0" err="1"/>
              <a:t>Reijers</a:t>
            </a:r>
            <a:r>
              <a:rPr lang="es-ES" sz="1100" dirty="0"/>
              <a:t>. Este libro ofrece una visión integral de BPM, abarcando desde conceptos básicos hasta técnicas avanzadas de modelado y análisis de procesos.</a:t>
            </a:r>
          </a:p>
          <a:p>
            <a:r>
              <a:rPr lang="es-ES" sz="1100" b="1" dirty="0"/>
              <a:t>Gestión por procesos de negocio: Organización horizontal</a:t>
            </a:r>
            <a:br>
              <a:rPr lang="es-ES" sz="1100" dirty="0"/>
            </a:br>
            <a:r>
              <a:rPr lang="es-ES" sz="1100" dirty="0"/>
              <a:t>Autores: Juan Gabriel Cegarra Navarro y Aurora Martínez </a:t>
            </a:r>
            <a:r>
              <a:rPr lang="es-ES" sz="1100" dirty="0" err="1"/>
              <a:t>Martínez</a:t>
            </a:r>
            <a:r>
              <a:rPr lang="es-ES" sz="1100" dirty="0"/>
              <a:t>. Este texto aborda la gestión por procesos desde una perspectiva horizontal, explorando el pensamiento Lean y su aplicación en procesos de negocio.</a:t>
            </a:r>
          </a:p>
          <a:p>
            <a:r>
              <a:rPr lang="es-ES" sz="1100" b="1" dirty="0"/>
              <a:t>Adopción de tecnologías de gestión de procesos de negocio</a:t>
            </a:r>
            <a:br>
              <a:rPr lang="es-ES" sz="1100" dirty="0"/>
            </a:br>
            <a:r>
              <a:rPr lang="es-ES" sz="1100" dirty="0"/>
              <a:t>Este artículo analiza la complejidad de implementar soluciones BPM, considerando aspectos organizacionales y tecnológicos.</a:t>
            </a:r>
          </a:p>
          <a:p>
            <a:r>
              <a:rPr lang="es-ES" sz="1100" b="1" dirty="0"/>
              <a:t>Caso de éxito: La automatización del Centro de servicios compartidos de DHL </a:t>
            </a:r>
            <a:r>
              <a:rPr lang="es-ES" sz="1100" b="1" dirty="0" err="1"/>
              <a:t>Group</a:t>
            </a:r>
            <a:br>
              <a:rPr lang="es-ES" sz="1100" dirty="0"/>
            </a:br>
            <a:r>
              <a:rPr lang="es-ES" sz="1100" dirty="0"/>
              <a:t>Este artículo detalla cómo DHL implementó una amplia plataforma tecnológica que incluye BPM, RPA y OCR para optimizar operaciones en diversas líneas de servicio, mejorando la eficiencia y la experiencia del cliente.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804105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A19BA-0A88-E900-25E6-2C8FF0AD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 descr="Imagen que contiene Diagrama">
            <a:extLst>
              <a:ext uri="{FF2B5EF4-FFF2-40B4-BE49-F238E27FC236}">
                <a16:creationId xmlns:a16="http://schemas.microsoft.com/office/drawing/2014/main" id="{AA2F2CB3-EAA7-208F-45A6-D7C313FF2B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3524" cy="6858001"/>
          </a:xfrm>
        </p:spPr>
      </p:pic>
    </p:spTree>
    <p:extLst>
      <p:ext uri="{BB962C8B-B14F-4D97-AF65-F5344CB8AC3E}">
        <p14:creationId xmlns:p14="http://schemas.microsoft.com/office/powerpoint/2010/main" val="34096894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606</Words>
  <Application>Microsoft Office PowerPoint</Application>
  <PresentationFormat>Panorámica</PresentationFormat>
  <Paragraphs>36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 Arial</vt:lpstr>
      <vt:lpstr>Arial</vt:lpstr>
      <vt:lpstr>Calibri</vt:lpstr>
      <vt:lpstr>Calibri Light</vt:lpstr>
      <vt:lpstr>Courier New</vt:lpstr>
      <vt:lpstr>Tema de Office</vt:lpstr>
      <vt:lpstr>Presentación de PowerPoint</vt:lpstr>
      <vt:lpstr>¿Qué es BPM?</vt:lpstr>
      <vt:lpstr>Ventajas</vt:lpstr>
      <vt:lpstr>DHL</vt:lpstr>
      <vt:lpstr>BPM</vt:lpstr>
      <vt:lpstr>BPM</vt:lpstr>
      <vt:lpstr>Bibliografia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 Milé MuñozClaros</dc:creator>
  <cp:lastModifiedBy>seabstian gonzalez</cp:lastModifiedBy>
  <cp:revision>46</cp:revision>
  <dcterms:created xsi:type="dcterms:W3CDTF">2023-03-13T19:19:11Z</dcterms:created>
  <dcterms:modified xsi:type="dcterms:W3CDTF">2025-03-04T02:07:07Z</dcterms:modified>
</cp:coreProperties>
</file>